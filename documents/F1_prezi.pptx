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0213DB-74E6-8774-EE6C-94A4F25D150D}" v="9" dt="2026-04-27T12:04:29.020"/>
    <p1510:client id="{79F168CB-0454-35BC-5400-0B386AFE7375}" v="155" dt="2026-04-27T16:46:06.235"/>
    <p1510:client id="{BC0FE189-0D49-8B8D-E77D-D9F55823AA2C}" v="2" dt="2026-04-27T16:24:13.601"/>
    <p1510:client id="{D07A4574-DABA-C7A3-99A4-F9618E3B1E25}" v="11" dt="2026-04-27T11:42:03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118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9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Figyeli</a:t>
            </a:r>
            <a:r>
              <a:rPr lang="en-US" b="1" dirty="0"/>
              <a:t> a </a:t>
            </a:r>
            <a:r>
              <a:rPr lang="en-US" b="1" dirty="0" err="1"/>
              <a:t>görgetési</a:t>
            </a:r>
            <a:r>
              <a:rPr lang="en-US" b="1" dirty="0"/>
              <a:t> </a:t>
            </a:r>
            <a:r>
              <a:rPr lang="en-US" b="1" dirty="0" err="1"/>
              <a:t>pozíciót</a:t>
            </a:r>
            <a:r>
              <a:rPr lang="en-US" b="1" dirty="0"/>
              <a:t> (</a:t>
            </a:r>
            <a:r>
              <a:rPr lang="en-US" b="1" dirty="0" err="1"/>
              <a:t>window.scrollY</a:t>
            </a:r>
            <a:r>
              <a:rPr lang="en-US" b="1" dirty="0"/>
              <a:t>). Ha20px-nél </a:t>
            </a:r>
            <a:r>
              <a:rPr lang="en-US" b="1" dirty="0" err="1"/>
              <a:t>mélyebbre</a:t>
            </a:r>
            <a:r>
              <a:rPr lang="en-US" b="1" dirty="0"/>
              <a:t> </a:t>
            </a:r>
            <a:r>
              <a:rPr lang="en-US" b="1" dirty="0" err="1"/>
              <a:t>görgetsz</a:t>
            </a:r>
            <a:r>
              <a:rPr lang="en-US" b="1" dirty="0"/>
              <a:t>, a nav </a:t>
            </a:r>
            <a:r>
              <a:rPr lang="en-US" b="1" dirty="0" err="1"/>
              <a:t>elemre</a:t>
            </a:r>
            <a:r>
              <a:rPr lang="en-US" b="1" dirty="0"/>
              <a:t> </a:t>
            </a:r>
            <a:r>
              <a:rPr lang="en-US" b="1" dirty="0" err="1"/>
              <a:t>kerüla</a:t>
            </a:r>
            <a:r>
              <a:rPr lang="en-US" b="1" dirty="0"/>
              <a:t> 'scrolled' CSS </a:t>
            </a:r>
            <a:r>
              <a:rPr lang="en-US" b="1" dirty="0" err="1"/>
              <a:t>osztály</a:t>
            </a:r>
            <a:r>
              <a:rPr lang="en-US" b="1" dirty="0"/>
              <a:t> – </a:t>
            </a:r>
            <a:r>
              <a:rPr lang="en-US" b="1" dirty="0" err="1"/>
              <a:t>ez</a:t>
            </a:r>
            <a:r>
              <a:rPr lang="en-US" b="1" dirty="0"/>
              <a:t> </a:t>
            </a:r>
            <a:r>
              <a:rPr lang="en-US" b="1" dirty="0" err="1"/>
              <a:t>váltja</a:t>
            </a:r>
            <a:r>
              <a:rPr lang="en-US" b="1" dirty="0"/>
              <a:t> ki a </a:t>
            </a:r>
            <a:r>
              <a:rPr lang="en-US" b="1" dirty="0" err="1"/>
              <a:t>navbarvizuális</a:t>
            </a:r>
            <a:r>
              <a:rPr lang="en-US" b="1" dirty="0"/>
              <a:t> </a:t>
            </a:r>
            <a:r>
              <a:rPr lang="en-US" b="1" dirty="0" err="1"/>
              <a:t>változását</a:t>
            </a:r>
            <a:r>
              <a:rPr lang="en-US" b="1" dirty="0"/>
              <a:t> (pl. </a:t>
            </a:r>
            <a:r>
              <a:rPr lang="en-US" b="1" dirty="0" err="1"/>
              <a:t>átlátszó</a:t>
            </a:r>
            <a:r>
              <a:rPr lang="en-US" b="1" dirty="0"/>
              <a:t> → </a:t>
            </a:r>
            <a:r>
              <a:rPr lang="en-US" b="1" dirty="0" err="1"/>
              <a:t>sötét</a:t>
            </a:r>
            <a:r>
              <a:rPr lang="en-US" b="1" dirty="0"/>
              <a:t> </a:t>
            </a:r>
            <a:r>
              <a:rPr lang="en-US" b="1" dirty="0" err="1"/>
              <a:t>háttér</a:t>
            </a:r>
            <a:r>
              <a:rPr lang="en-US" b="1" dirty="0"/>
              <a:t>). A{ passive: true } </a:t>
            </a:r>
            <a:r>
              <a:rPr lang="en-US" b="1" dirty="0" err="1"/>
              <a:t>opció</a:t>
            </a:r>
            <a:r>
              <a:rPr lang="en-US" b="1" dirty="0"/>
              <a:t> </a:t>
            </a:r>
            <a:r>
              <a:rPr lang="en-US" b="1" dirty="0" err="1"/>
              <a:t>javítja</a:t>
            </a:r>
            <a:r>
              <a:rPr lang="en-US" b="1" dirty="0"/>
              <a:t> a </a:t>
            </a:r>
            <a:r>
              <a:rPr lang="en-US" b="1" dirty="0" err="1"/>
              <a:t>görgetésiteljesítményt</a:t>
            </a:r>
            <a:r>
              <a:rPr lang="en-US" b="1" dirty="0"/>
              <a:t>.</a:t>
            </a:r>
            <a:endParaRPr lang="en-US" b="1" dirty="0">
              <a:ea typeface="Calibri"/>
              <a:cs typeface="Calibri"/>
            </a:endParaRPr>
          </a:p>
          <a:p>
            <a:endParaRPr lang="en-US" b="1" dirty="0">
              <a:ea typeface="Calibri"/>
              <a:cs typeface="Calibri"/>
            </a:endParaRPr>
          </a:p>
          <a:p>
            <a:r>
              <a:rPr lang="en-US" b="1" dirty="0" err="1"/>
              <a:t>Betöltéskor</a:t>
            </a:r>
            <a:r>
              <a:rPr lang="en-US" b="1" dirty="0"/>
              <a:t> 100ms </a:t>
            </a:r>
            <a:r>
              <a:rPr lang="en-US" b="1" dirty="0" err="1"/>
              <a:t>késleltetéssel</a:t>
            </a:r>
            <a:r>
              <a:rPr lang="en-US" b="1" dirty="0"/>
              <a:t> </a:t>
            </a:r>
            <a:r>
              <a:rPr lang="en-US" b="1" dirty="0" err="1"/>
              <a:t>hozzáadja</a:t>
            </a:r>
            <a:r>
              <a:rPr lang="en-US" b="1" dirty="0"/>
              <a:t> </a:t>
            </a:r>
            <a:r>
              <a:rPr lang="en-US" b="1" dirty="0" err="1"/>
              <a:t>a'loaded</a:t>
            </a:r>
            <a:r>
              <a:rPr lang="en-US" b="1" dirty="0"/>
              <a:t>' </a:t>
            </a:r>
            <a:r>
              <a:rPr lang="en-US" b="1" dirty="0" err="1"/>
              <a:t>osztályt</a:t>
            </a:r>
            <a:r>
              <a:rPr lang="en-US" b="1" dirty="0"/>
              <a:t> a hero </a:t>
            </a:r>
            <a:r>
              <a:rPr lang="en-US" b="1" dirty="0" err="1"/>
              <a:t>elemhez</a:t>
            </a:r>
            <a:r>
              <a:rPr lang="en-US" b="1" dirty="0"/>
              <a:t> (CSS fade-</a:t>
            </a:r>
            <a:r>
              <a:rPr lang="en-US" b="1" dirty="0" err="1"/>
              <a:t>inanimáció</a:t>
            </a:r>
            <a:r>
              <a:rPr lang="en-US" b="1" dirty="0"/>
              <a:t> trigger). </a:t>
            </a:r>
            <a:r>
              <a:rPr lang="en-US" b="1" dirty="0" err="1"/>
              <a:t>Görgetéskor</a:t>
            </a:r>
            <a:r>
              <a:rPr lang="en-US" b="1" dirty="0"/>
              <a:t> a </a:t>
            </a:r>
            <a:r>
              <a:rPr lang="en-US" b="1" dirty="0" err="1"/>
              <a:t>háttérképetscale</a:t>
            </a:r>
            <a:r>
              <a:rPr lang="en-US" b="1" dirty="0"/>
              <a:t>(1.05) + </a:t>
            </a:r>
            <a:r>
              <a:rPr lang="en-US" b="1" dirty="0" err="1"/>
              <a:t>translateY</a:t>
            </a:r>
            <a:r>
              <a:rPr lang="en-US" b="1" dirty="0"/>
              <a:t>(</a:t>
            </a:r>
            <a:r>
              <a:rPr lang="en-US" b="1" dirty="0" err="1"/>
              <a:t>scrollY</a:t>
            </a:r>
            <a:r>
              <a:rPr lang="en-US" b="1" dirty="0"/>
              <a:t> × 0.18px)</a:t>
            </a:r>
            <a:r>
              <a:rPr lang="en-US" b="1" dirty="0" err="1"/>
              <a:t>transzformációval</a:t>
            </a:r>
            <a:r>
              <a:rPr lang="en-US" b="1" dirty="0"/>
              <a:t> </a:t>
            </a:r>
            <a:r>
              <a:rPr lang="en-US" b="1" dirty="0" err="1"/>
              <a:t>mozgatja</a:t>
            </a:r>
            <a:r>
              <a:rPr lang="en-US" b="1" dirty="0"/>
              <a:t> – a </a:t>
            </a:r>
            <a:r>
              <a:rPr lang="en-US" b="1" dirty="0" err="1"/>
              <a:t>kép</a:t>
            </a:r>
            <a:r>
              <a:rPr lang="en-US" b="1" dirty="0"/>
              <a:t> </a:t>
            </a:r>
            <a:r>
              <a:rPr lang="en-US" b="1" dirty="0" err="1"/>
              <a:t>lassabbanúszik</a:t>
            </a:r>
            <a:r>
              <a:rPr lang="en-US" b="1" dirty="0"/>
              <a:t>, mint a </a:t>
            </a:r>
            <a:r>
              <a:rPr lang="en-US" b="1" dirty="0" err="1"/>
              <a:t>tartalom</a:t>
            </a:r>
            <a:r>
              <a:rPr lang="en-US" b="1" dirty="0"/>
              <a:t>, </a:t>
            </a:r>
            <a:r>
              <a:rPr lang="en-US" b="1" dirty="0" err="1"/>
              <a:t>mélységérzetet</a:t>
            </a:r>
            <a:r>
              <a:rPr lang="en-US" b="1" dirty="0"/>
              <a:t> </a:t>
            </a:r>
            <a:r>
              <a:rPr lang="en-US" b="1" dirty="0" err="1"/>
              <a:t>keltve</a:t>
            </a:r>
            <a:r>
              <a:rPr lang="en-US" b="1" dirty="0"/>
              <a:t>(parallax </a:t>
            </a:r>
            <a:r>
              <a:rPr lang="en-US" b="1" dirty="0" err="1"/>
              <a:t>effekt</a:t>
            </a:r>
            <a:r>
              <a:rPr lang="en-US" b="1" dirty="0"/>
              <a:t>). </a:t>
            </a:r>
            <a:br>
              <a:rPr lang="en-US" b="1" dirty="0">
                <a:cs typeface="+mn-lt"/>
              </a:rPr>
            </a:br>
            <a:br>
              <a:rPr lang="en-US" b="1" dirty="0">
                <a:cs typeface="+mn-lt"/>
              </a:rPr>
            </a:br>
            <a:r>
              <a:rPr lang="en-US" b="1" dirty="0" err="1"/>
              <a:t>IntersectionObserver</a:t>
            </a:r>
            <a:r>
              <a:rPr lang="en-US" b="1" dirty="0"/>
              <a:t> API-</a:t>
            </a:r>
            <a:r>
              <a:rPr lang="en-US" b="1" dirty="0" err="1"/>
              <a:t>val</a:t>
            </a:r>
            <a:r>
              <a:rPr lang="en-US" b="1" dirty="0"/>
              <a:t> </a:t>
            </a:r>
            <a:r>
              <a:rPr lang="en-US" b="1" dirty="0" err="1"/>
              <a:t>figyeli</a:t>
            </a:r>
            <a:r>
              <a:rPr lang="en-US" b="1" dirty="0"/>
              <a:t> </a:t>
            </a:r>
            <a:r>
              <a:rPr lang="en-US" b="1" dirty="0" err="1"/>
              <a:t>az</a:t>
            </a:r>
            <a:r>
              <a:rPr lang="en-US" b="1" dirty="0"/>
              <a:t> </a:t>
            </a:r>
            <a:r>
              <a:rPr lang="en-US" b="1" dirty="0" err="1"/>
              <a:t>összes</a:t>
            </a:r>
            <a:r>
              <a:rPr lang="en-US" b="1" dirty="0"/>
              <a:t>'.reveal' </a:t>
            </a:r>
            <a:r>
              <a:rPr lang="en-US" b="1" dirty="0" err="1"/>
              <a:t>elemet</a:t>
            </a:r>
            <a:r>
              <a:rPr lang="en-US" b="1" dirty="0"/>
              <a:t>. Ha </a:t>
            </a:r>
            <a:r>
              <a:rPr lang="en-US" b="1" dirty="0" err="1"/>
              <a:t>egy</a:t>
            </a:r>
            <a:r>
              <a:rPr lang="en-US" b="1" dirty="0"/>
              <a:t> </a:t>
            </a:r>
            <a:r>
              <a:rPr lang="en-US" b="1" dirty="0" err="1"/>
              <a:t>elem</a:t>
            </a:r>
            <a:r>
              <a:rPr lang="en-US" b="1" dirty="0"/>
              <a:t> </a:t>
            </a:r>
            <a:r>
              <a:rPr lang="en-US" b="1" dirty="0" err="1"/>
              <a:t>legalább</a:t>
            </a:r>
            <a:r>
              <a:rPr lang="en-US" b="1" dirty="0"/>
              <a:t> 12%-</a:t>
            </a:r>
            <a:r>
              <a:rPr lang="en-US" b="1" dirty="0" err="1"/>
              <a:t>banbelép</a:t>
            </a:r>
            <a:r>
              <a:rPr lang="en-US" b="1" dirty="0"/>
              <a:t> a viewport-</a:t>
            </a:r>
            <a:r>
              <a:rPr lang="en-US" b="1" dirty="0" err="1"/>
              <a:t>ba</a:t>
            </a:r>
            <a:r>
              <a:rPr lang="en-US" b="1" dirty="0"/>
              <a:t>, </a:t>
            </a:r>
            <a:r>
              <a:rPr lang="en-US" b="1" dirty="0" err="1"/>
              <a:t>megkapja</a:t>
            </a:r>
            <a:r>
              <a:rPr lang="en-US" b="1" dirty="0"/>
              <a:t> a 'visible' </a:t>
            </a:r>
            <a:r>
              <a:rPr lang="en-US" b="1" dirty="0" err="1"/>
              <a:t>osztályt</a:t>
            </a:r>
            <a:r>
              <a:rPr lang="en-US" b="1" dirty="0"/>
              <a:t>(CSS </a:t>
            </a:r>
            <a:r>
              <a:rPr lang="en-US" b="1" dirty="0" err="1"/>
              <a:t>animáció</a:t>
            </a:r>
            <a:r>
              <a:rPr lang="en-US" b="1" dirty="0"/>
              <a:t> </a:t>
            </a:r>
            <a:r>
              <a:rPr lang="en-US" b="1" dirty="0" err="1"/>
              <a:t>elindul</a:t>
            </a:r>
            <a:r>
              <a:rPr lang="en-US" b="1" dirty="0"/>
              <a:t>), </a:t>
            </a:r>
            <a:r>
              <a:rPr lang="en-US" b="1" dirty="0" err="1"/>
              <a:t>majd</a:t>
            </a:r>
            <a:r>
              <a:rPr lang="en-US" b="1" dirty="0"/>
              <a:t> a </a:t>
            </a:r>
            <a:r>
              <a:rPr lang="en-US" b="1" dirty="0" err="1"/>
              <a:t>megfigyelés</a:t>
            </a:r>
            <a:r>
              <a:rPr lang="en-US" b="1" dirty="0"/>
              <a:t> </a:t>
            </a:r>
            <a:r>
              <a:rPr lang="en-US" b="1" dirty="0" err="1"/>
              <a:t>leáll</a:t>
            </a:r>
            <a:r>
              <a:rPr lang="en-US" b="1" dirty="0"/>
              <a:t>(</a:t>
            </a:r>
            <a:r>
              <a:rPr lang="en-US" b="1" dirty="0" err="1"/>
              <a:t>io.unobserve</a:t>
            </a:r>
            <a:r>
              <a:rPr lang="en-US" b="1" dirty="0"/>
              <a:t>). Az </a:t>
            </a:r>
            <a:r>
              <a:rPr lang="en-US" b="1" dirty="0" err="1"/>
              <a:t>animáció</a:t>
            </a:r>
            <a:r>
              <a:rPr lang="en-US" b="1" dirty="0"/>
              <a:t> </a:t>
            </a:r>
            <a:r>
              <a:rPr lang="en-US" b="1" dirty="0" err="1"/>
              <a:t>így</a:t>
            </a:r>
            <a:r>
              <a:rPr lang="en-US" b="1" dirty="0"/>
              <a:t> </a:t>
            </a:r>
            <a:r>
              <a:rPr lang="en-US" b="1" dirty="0" err="1"/>
              <a:t>csak</a:t>
            </a:r>
            <a:r>
              <a:rPr lang="en-US" b="1" dirty="0"/>
              <a:t> </a:t>
            </a:r>
            <a:r>
              <a:rPr lang="en-US" b="1" dirty="0" err="1"/>
              <a:t>egyszerjátszódik</a:t>
            </a:r>
            <a:r>
              <a:rPr lang="en-US" b="1" dirty="0"/>
              <a:t> le, </a:t>
            </a:r>
            <a:r>
              <a:rPr lang="en-US" b="1" dirty="0" err="1"/>
              <a:t>hatékonyabban</a:t>
            </a:r>
            <a:r>
              <a:rPr lang="en-US" b="1" dirty="0"/>
              <a:t> mint scroll event-tel. </a:t>
            </a:r>
            <a:br>
              <a:rPr lang="en-US" dirty="0">
                <a:cs typeface="+mn-lt"/>
              </a:rPr>
            </a:br>
            <a:endParaRPr lang="en-US" dirty="0">
              <a:solidFill>
                <a:srgbClr val="27251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26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-1828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FFFFFF">
                    <a:alpha val="1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7716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>
                    <a:lumMod val="85000"/>
                  </a:schemeClr>
                </a:solidFill>
                <a:latin typeface="Wide Latin" panose="020A0A07050505020404" pitchFamily="18" charset="0"/>
                <a:ea typeface="Arial Black" pitchFamily="34" charset="-122"/>
                <a:cs typeface="Arial Black" pitchFamily="34" charset="-120"/>
              </a:rPr>
              <a:t>Formula</a:t>
            </a:r>
            <a:endParaRPr lang="en-US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Dinamikus Weboldal Projekt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45720"/>
          </a:xfrm>
          <a:prstGeom prst="rect">
            <a:avLst/>
          </a:prstGeom>
          <a:solidFill>
            <a:srgbClr val="FF8000"/>
          </a:solidFill>
          <a:ln w="12700">
            <a:solidFill>
              <a:srgbClr val="FF8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Debreczeni Roland  ·  Kuba Benedek  ·  Ujj Zalán</a:t>
            </a:r>
            <a:endParaRPr lang="en-US" sz="14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D5E6DAF-19BD-406A-AE7C-6399AB69FB1F}"/>
              </a:ext>
            </a:extLst>
          </p:cNvPr>
          <p:cNvSpPr/>
          <p:nvPr/>
        </p:nvSpPr>
        <p:spPr>
          <a:xfrm>
            <a:off x="5183360" y="933718"/>
            <a:ext cx="6314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u-HU" sz="6000" b="1" i="1" dirty="0">
                <a:solidFill>
                  <a:srgbClr val="C00000"/>
                </a:solidFill>
                <a:latin typeface="Franklin Gothic Heavy" panose="020B0903020102020204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000" i="1" dirty="0">
              <a:solidFill>
                <a:srgbClr val="C00000"/>
              </a:solidFill>
              <a:latin typeface="Franklin Gothic Heavy" panose="020B0903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u="sng" dirty="0">
                <a:solidFill>
                  <a:srgbClr val="15151E"/>
                </a:solidFill>
                <a:latin typeface="Rockwell Extra Bold" panose="02060903040505020403" pitchFamily="18" charset="0"/>
                <a:ea typeface="Arial Black" pitchFamily="34" charset="-122"/>
                <a:cs typeface="Arial Black" pitchFamily="34" charset="-120"/>
              </a:rPr>
              <a:t>A projekt célja</a:t>
            </a:r>
            <a:endParaRPr lang="en-US" sz="3600" u="sng" dirty="0">
              <a:latin typeface="Rockwell Extra Bold" panose="020609030405050204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03520" cy="35661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Komplex, animált weboldal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1 verseny témában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Navigálható, többoldalas felépítés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Főoldal + 3 leíró oldal fejléces menüvel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Interaktív tudástesztek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leíró oldalon min. 4 kérdéses kvíz értékeléssel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CSS animációk &amp; átmenetek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Transition-ök és hover-effektek a vizuális élményért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005840"/>
            <a:ext cx="2651760" cy="105156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12648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240280"/>
            <a:ext cx="2651760" cy="1051560"/>
          </a:xfrm>
          <a:prstGeom prst="rect">
            <a:avLst/>
          </a:prstGeom>
          <a:solidFill>
            <a:srgbClr val="15151E"/>
          </a:solidFill>
          <a:ln w="12700">
            <a:solidFill>
              <a:srgbClr val="15151E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Kvíz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3474720"/>
            <a:ext cx="2651760" cy="1051560"/>
          </a:xfrm>
          <a:prstGeom prst="rect">
            <a:avLst/>
          </a:prstGeom>
          <a:solidFill>
            <a:srgbClr val="FF8000"/>
          </a:solidFill>
          <a:ln w="12700">
            <a:solidFill>
              <a:srgbClr val="FF8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3520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HTML5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4114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u="sng" dirty="0">
                <a:solidFill>
                  <a:srgbClr val="FFFFFF"/>
                </a:solidFill>
                <a:latin typeface="Rockwell Extra Bold" panose="02060903040505020403" pitchFamily="18" charset="0"/>
                <a:ea typeface="Arial Black" pitchFamily="34" charset="-122"/>
                <a:cs typeface="Arial Black" pitchFamily="34" charset="-120"/>
              </a:rPr>
              <a:t>Weboldal felépítése</a:t>
            </a:r>
            <a:endParaRPr lang="en-US" sz="3600" u="sng" dirty="0">
              <a:latin typeface="Rockwell Extra Bold" panose="020609030405050204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18872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Főoldal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Cím · Menü · Alkotók · Kép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737360"/>
            <a:ext cx="274320" cy="45720"/>
          </a:xfrm>
          <a:prstGeom prst="rect">
            <a:avLst/>
          </a:prstGeom>
          <a:solidFill>
            <a:srgbClr val="FF8000"/>
          </a:solidFill>
          <a:ln w="12700">
            <a:solidFill>
              <a:srgbClr val="FF8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188720"/>
            <a:ext cx="1920240" cy="1188720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Oldal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5176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történet &amp; Kvíz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737360"/>
            <a:ext cx="274320" cy="45720"/>
          </a:xfrm>
          <a:prstGeom prst="rect">
            <a:avLst/>
          </a:prstGeom>
          <a:solidFill>
            <a:srgbClr val="FF8000"/>
          </a:solidFill>
          <a:ln w="12700">
            <a:solidFill>
              <a:srgbClr val="FF8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88720"/>
            <a:ext cx="1920240" cy="1188720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Oldal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 err="1">
                <a:solidFill>
                  <a:srgbClr val="FFFFFF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Redbull</a:t>
            </a: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 Racing &amp; </a:t>
            </a:r>
            <a:r>
              <a:rPr lang="en-US" sz="1000" dirty="0" err="1">
                <a:solidFill>
                  <a:srgbClr val="FFFFFF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Kvíz</a:t>
            </a:r>
            <a:endParaRPr lang="en-US" sz="10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766560" y="1737360"/>
            <a:ext cx="274320" cy="45720"/>
          </a:xfrm>
          <a:prstGeom prst="rect">
            <a:avLst/>
          </a:prstGeom>
          <a:solidFill>
            <a:srgbClr val="FF8000"/>
          </a:solidFill>
          <a:ln w="12700">
            <a:solidFill>
              <a:srgbClr val="FF8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188720"/>
            <a:ext cx="1920240" cy="1188720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Oldal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 err="1">
                <a:solidFill>
                  <a:srgbClr val="FFFFFF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Szabályok</a:t>
            </a: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sz="1000" dirty="0" err="1">
                <a:solidFill>
                  <a:srgbClr val="FFFFFF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Kvíz</a:t>
            </a:r>
            <a:endParaRPr lang="en-US" sz="10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Navigáció: fejléces menü – minden oldalon elérhető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8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Technológia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103120" y="3611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222233"/>
          </a:solidFill>
          <a:ln w="12700">
            <a:solidFill>
              <a:srgbClr val="FF8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3611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0" y="3611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222233"/>
          </a:solidFill>
          <a:ln w="12700">
            <a:solidFill>
              <a:srgbClr val="FF8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3611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3611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222233"/>
          </a:solidFill>
          <a:ln w="12700">
            <a:solidFill>
              <a:srgbClr val="FF8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611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u="sng" dirty="0">
                <a:solidFill>
                  <a:srgbClr val="15151E"/>
                </a:solidFill>
                <a:latin typeface="Rockwell Extra Bold" panose="02060903040505020403" pitchFamily="18" charset="0"/>
                <a:ea typeface="Arial Black" pitchFamily="34" charset="-122"/>
                <a:cs typeface="Arial Black" pitchFamily="34" charset="-120"/>
              </a:rPr>
              <a:t>Munkamegosztás</a:t>
            </a:r>
            <a:endParaRPr lang="en-US" sz="3600" u="sng" dirty="0">
              <a:latin typeface="Rockwell Extra Bold" panose="020609030405050204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657600"/>
          </a:xfrm>
          <a:prstGeom prst="rect">
            <a:avLst/>
          </a:prstGeom>
          <a:solidFill>
            <a:srgbClr val="F0F0F0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68580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Debreczeni Roland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99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Logika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stílusszerkesztés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megvalósítás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Interaktív űrlapok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3657600"/>
          </a:xfrm>
          <a:prstGeom prst="rect">
            <a:avLst/>
          </a:prstGeom>
          <a:solidFill>
            <a:srgbClr val="F0F0F0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685800"/>
          </a:xfrm>
          <a:prstGeom prst="rect">
            <a:avLst/>
          </a:prstGeom>
          <a:solidFill>
            <a:srgbClr val="15151E"/>
          </a:solidFill>
          <a:ln w="12700">
            <a:solidFill>
              <a:srgbClr val="1515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33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Kuba Benedek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399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Struktúra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oldalak elkészítése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Oldal szerkezet kialakítása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Képek, médiatartalmak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51760" cy="3657600"/>
          </a:xfrm>
          <a:prstGeom prst="rect">
            <a:avLst/>
          </a:prstGeom>
          <a:solidFill>
            <a:srgbClr val="F0F0F0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2651760" cy="685800"/>
          </a:xfrm>
          <a:prstGeom prst="rect">
            <a:avLst/>
          </a:prstGeom>
          <a:solidFill>
            <a:srgbClr val="FF8000"/>
          </a:solidFill>
          <a:ln w="12700">
            <a:solidFill>
              <a:srgbClr val="FF8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33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Ujj Zalán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399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Dokumentáció &amp; Tartalom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 dokumentálása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szöveg gyűjtése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Tartalom szerkesztése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u="sng" dirty="0">
                <a:solidFill>
                  <a:srgbClr val="FFFFFF"/>
                </a:solidFill>
                <a:latin typeface="Rockwell Extra Bold" panose="02060903040505020403" pitchFamily="18" charset="0"/>
                <a:ea typeface="Arial Black" pitchFamily="34" charset="-122"/>
                <a:cs typeface="Arial Black" pitchFamily="34" charset="-120"/>
              </a:rPr>
              <a:t>Validálás</a:t>
            </a:r>
            <a:endParaRPr lang="en-US" sz="3600" u="sng" dirty="0">
              <a:latin typeface="Rockwell Extra Bold" panose="020609030405050204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234440"/>
            <a:ext cx="914400" cy="9144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✓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 Validator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validator.w3.org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összes HTML5 oldal validálása a W3C eszközzel. A felmerülő hibákat kijavítottuk és képernyőképpel igazoltuk.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384048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234440"/>
            <a:ext cx="914400" cy="9144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Validator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jigsaw.w3.org/css-validator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20640" y="30632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stílusfájl validálása a W3C CSS Validator segítségével. Hibamentes CSS3 kód biztosítása az összes oldalon.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437080"/>
            <a:ext cx="8138160" cy="596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i="1" u="sng" dirty="0">
                <a:solidFill>
                  <a:srgbClr val="FFFFFF"/>
                </a:solidFill>
                <a:latin typeface="Rockwell Extra Bold" panose="02060903040505020403" pitchFamily="18" charset="0"/>
                <a:ea typeface="Arial Black" pitchFamily="34" charset="-122"/>
                <a:cs typeface="Arial Black" pitchFamily="34" charset="-120"/>
              </a:rPr>
              <a:t>Validálás</a:t>
            </a:r>
            <a:endParaRPr lang="en-US" sz="3600" i="1" u="sng" dirty="0">
              <a:latin typeface="Rockwell Extra Bold" panose="020609030405050204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31422"/>
            <a:ext cx="8138160" cy="4283964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279E911-18CA-4C27-B6F3-DEEE97E6D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65" y="2984023"/>
            <a:ext cx="5027612" cy="720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615FA29-49EF-4653-82FB-30B856C40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49" y="1726482"/>
            <a:ext cx="2605989" cy="110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0BB7BD6-8C66-4E99-815C-4C1851D94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551" y="267771"/>
            <a:ext cx="2349726" cy="129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A5BCFEA2-73D0-477B-9F65-74B90793C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643" y="241870"/>
            <a:ext cx="2512859" cy="138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2D68330-9D54-4F28-9E16-A15872BEC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49" y="241150"/>
            <a:ext cx="2524136" cy="1386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B41E2FDC-96AF-48F8-81B1-EF9F3A483D8D}"/>
              </a:ext>
            </a:extLst>
          </p:cNvPr>
          <p:cNvSpPr/>
          <p:nvPr/>
        </p:nvSpPr>
        <p:spPr>
          <a:xfrm>
            <a:off x="3306203" y="1670926"/>
            <a:ext cx="2148447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400" b="1" i="1" u="sng" dirty="0">
                <a:solidFill>
                  <a:schemeClr val="bg2">
                    <a:lumMod val="75000"/>
                  </a:schemeClr>
                </a:solidFill>
                <a:latin typeface="Rockwell Extra Bold" panose="02060903040505020403" pitchFamily="18" charset="0"/>
                <a:ea typeface="Arial Black" pitchFamily="34" charset="-122"/>
                <a:cs typeface="Arial Black" pitchFamily="34" charset="-120"/>
              </a:rPr>
              <a:t>HTML</a:t>
            </a:r>
            <a:endParaRPr lang="en-US" sz="2000" i="1" u="sng" dirty="0">
              <a:solidFill>
                <a:schemeClr val="bg2">
                  <a:lumMod val="75000"/>
                </a:schemeClr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53AB5265-69CF-4A3D-B785-3E97483FAA51}"/>
              </a:ext>
            </a:extLst>
          </p:cNvPr>
          <p:cNvSpPr/>
          <p:nvPr/>
        </p:nvSpPr>
        <p:spPr>
          <a:xfrm>
            <a:off x="579049" y="3720137"/>
            <a:ext cx="2075180" cy="430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400" b="1" i="1" u="sng" dirty="0">
                <a:solidFill>
                  <a:schemeClr val="bg2">
                    <a:lumMod val="75000"/>
                  </a:schemeClr>
                </a:solidFill>
                <a:latin typeface="Rockwell Extra Bold" panose="02060903040505020403" pitchFamily="18" charset="0"/>
                <a:ea typeface="Arial Black" pitchFamily="34" charset="-122"/>
                <a:cs typeface="Arial Black" pitchFamily="34" charset="-120"/>
              </a:rPr>
              <a:t>CSS</a:t>
            </a:r>
            <a:endParaRPr lang="en-US" sz="2000" i="1" u="sng" dirty="0">
              <a:solidFill>
                <a:schemeClr val="bg2">
                  <a:lumMod val="75000"/>
                </a:schemeClr>
              </a:solidFill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839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>
            <a:extLst>
              <a:ext uri="{FF2B5EF4-FFF2-40B4-BE49-F238E27FC236}">
                <a16:creationId xmlns:a16="http://schemas.microsoft.com/office/drawing/2014/main" id="{C0A41906-ED18-428F-8D74-9CAB6714E35B}"/>
              </a:ext>
            </a:extLst>
          </p:cNvPr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3600" b="1" u="sng">
                <a:solidFill>
                  <a:srgbClr val="FFFFFF"/>
                </a:solidFill>
                <a:latin typeface="Rockwell Extra Bold"/>
              </a:rPr>
              <a:t>Érdekes JS megoldások</a:t>
            </a:r>
            <a:endParaRPr lang="en-US" sz="3600" u="sng">
              <a:latin typeface="Rockwell Extra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99365"/>
            <a:ext cx="8229600" cy="4162962"/>
          </a:xfrm>
          <a:prstGeom prst="rect">
            <a:avLst/>
          </a:prstGeom>
          <a:solidFill>
            <a:schemeClr val="bg1"/>
          </a:solidFill>
          <a:ln w="12700">
            <a:solidFill>
              <a:srgbClr val="33335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24B65F4-69F7-EB20-BA49-7DE41E02CCC4}"/>
              </a:ext>
            </a:extLst>
          </p:cNvPr>
          <p:cNvSpPr txBox="1"/>
          <p:nvPr/>
        </p:nvSpPr>
        <p:spPr>
          <a:xfrm>
            <a:off x="1499151" y="1606825"/>
            <a:ext cx="803413" cy="5052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0C71362-DB5B-6EF6-B7E8-E4EBDBCC3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51" y="896886"/>
            <a:ext cx="5198775" cy="41588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54750" y="904213"/>
            <a:ext cx="3032770" cy="13131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1. Nav Scroll Effect</a:t>
            </a:r>
            <a:endParaRPr lang="en-US" sz="160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lang="en-US" sz="1200" b="1" dirty="0" err="1">
                <a:latin typeface="Calibri"/>
                <a:ea typeface="+mn-lt"/>
                <a:cs typeface="Calibri"/>
              </a:rPr>
              <a:t>Görgetéskor</a:t>
            </a:r>
            <a:r>
              <a:rPr lang="en-US" sz="1200" b="1" dirty="0">
                <a:latin typeface="Calibri"/>
                <a:ea typeface="+mn-lt"/>
                <a:cs typeface="Calibri"/>
              </a:rPr>
              <a:t> </a:t>
            </a:r>
            <a:r>
              <a:rPr lang="en-US" sz="1200" b="1" dirty="0" err="1">
                <a:latin typeface="Calibri"/>
                <a:ea typeface="+mn-lt"/>
                <a:cs typeface="Calibri"/>
              </a:rPr>
              <a:t>figyeli</a:t>
            </a:r>
            <a:r>
              <a:rPr lang="en-US" sz="1200" b="1" dirty="0">
                <a:latin typeface="Calibri"/>
                <a:ea typeface="+mn-lt"/>
                <a:cs typeface="Calibri"/>
              </a:rPr>
              <a:t> a </a:t>
            </a:r>
            <a:r>
              <a:rPr lang="en-US" sz="1200" b="1" dirty="0" err="1">
                <a:latin typeface="Calibri"/>
                <a:ea typeface="Calibri"/>
                <a:cs typeface="Calibri"/>
              </a:rPr>
              <a:t>window.scrollY</a:t>
            </a:r>
            <a:r>
              <a:rPr lang="en-US" sz="1200" b="1" dirty="0">
                <a:latin typeface="Calibri"/>
                <a:ea typeface="+mn-lt"/>
                <a:cs typeface="Calibri"/>
              </a:rPr>
              <a:t> </a:t>
            </a:r>
            <a:r>
              <a:rPr lang="en-US" sz="1200" b="1" dirty="0" err="1">
                <a:latin typeface="Calibri"/>
                <a:ea typeface="+mn-lt"/>
                <a:cs typeface="Calibri"/>
              </a:rPr>
              <a:t>értékét</a:t>
            </a:r>
            <a:r>
              <a:rPr lang="en-US" sz="1200" b="1" dirty="0">
                <a:latin typeface="Calibri"/>
                <a:ea typeface="+mn-lt"/>
                <a:cs typeface="Calibri"/>
              </a:rPr>
              <a:t> – ha </a:t>
            </a:r>
            <a:r>
              <a:rPr lang="en-US" sz="1200" b="1" dirty="0" err="1">
                <a:latin typeface="Calibri"/>
                <a:ea typeface="+mn-lt"/>
                <a:cs typeface="Calibri"/>
              </a:rPr>
              <a:t>meghaladja</a:t>
            </a:r>
            <a:r>
              <a:rPr lang="en-US" sz="1200" b="1" dirty="0">
                <a:latin typeface="Calibri"/>
                <a:ea typeface="+mn-lt"/>
                <a:cs typeface="Calibri"/>
              </a:rPr>
              <a:t> a 20px-t, a nav </a:t>
            </a:r>
            <a:r>
              <a:rPr lang="en-US" sz="1200" b="1" dirty="0" err="1">
                <a:latin typeface="Calibri"/>
                <a:ea typeface="+mn-lt"/>
                <a:cs typeface="Calibri"/>
              </a:rPr>
              <a:t>elemre</a:t>
            </a:r>
            <a:r>
              <a:rPr lang="en-US" sz="1200" b="1" dirty="0">
                <a:latin typeface="Calibri"/>
                <a:ea typeface="+mn-lt"/>
                <a:cs typeface="Calibri"/>
              </a:rPr>
              <a:t> </a:t>
            </a:r>
            <a:r>
              <a:rPr lang="en-US" sz="1200" b="1" dirty="0" err="1">
                <a:latin typeface="Calibri"/>
                <a:ea typeface="+mn-lt"/>
                <a:cs typeface="Calibri"/>
              </a:rPr>
              <a:t>kerül</a:t>
            </a:r>
            <a:r>
              <a:rPr lang="en-US" sz="1200" b="1" dirty="0">
                <a:latin typeface="Calibri"/>
                <a:ea typeface="+mn-lt"/>
                <a:cs typeface="Calibri"/>
              </a:rPr>
              <a:t> a </a:t>
            </a:r>
            <a:r>
              <a:rPr lang="en-US" sz="1200" b="1" dirty="0">
                <a:latin typeface="Calibri"/>
                <a:ea typeface="Calibri"/>
                <a:cs typeface="Calibri"/>
              </a:rPr>
              <a:t>scrolled</a:t>
            </a:r>
            <a:r>
              <a:rPr lang="en-US" sz="1200" b="1" dirty="0">
                <a:latin typeface="Calibri"/>
                <a:ea typeface="+mn-lt"/>
                <a:cs typeface="Calibri"/>
              </a:rPr>
              <a:t> CSS </a:t>
            </a:r>
            <a:r>
              <a:rPr lang="en-US" sz="1200" b="1" dirty="0" err="1">
                <a:latin typeface="Calibri"/>
                <a:ea typeface="+mn-lt"/>
                <a:cs typeface="Calibri"/>
              </a:rPr>
              <a:t>osztály</a:t>
            </a:r>
            <a:r>
              <a:rPr lang="en-US" sz="1200" b="1" dirty="0">
                <a:latin typeface="Calibri"/>
                <a:ea typeface="+mn-lt"/>
                <a:cs typeface="Calibri"/>
              </a:rPr>
              <a:t> (pl. </a:t>
            </a:r>
            <a:r>
              <a:rPr lang="en-US" sz="1200" b="1" dirty="0" err="1">
                <a:latin typeface="Calibri"/>
                <a:ea typeface="+mn-lt"/>
                <a:cs typeface="Calibri"/>
              </a:rPr>
              <a:t>átlátszó</a:t>
            </a:r>
            <a:r>
              <a:rPr lang="en-US" sz="1200" b="1" dirty="0">
                <a:latin typeface="Calibri"/>
                <a:ea typeface="+mn-lt"/>
                <a:cs typeface="Calibri"/>
              </a:rPr>
              <a:t> → </a:t>
            </a:r>
            <a:r>
              <a:rPr lang="en-US" sz="1200" b="1" dirty="0" err="1">
                <a:latin typeface="Calibri"/>
                <a:ea typeface="+mn-lt"/>
                <a:cs typeface="Calibri"/>
              </a:rPr>
              <a:t>sötét</a:t>
            </a:r>
            <a:r>
              <a:rPr lang="en-US" sz="1200" b="1" dirty="0">
                <a:latin typeface="Calibri"/>
                <a:ea typeface="+mn-lt"/>
                <a:cs typeface="Calibri"/>
              </a:rPr>
              <a:t> navbar). A </a:t>
            </a:r>
            <a:r>
              <a:rPr lang="en-US" sz="1200" b="1" dirty="0">
                <a:latin typeface="Calibri"/>
                <a:ea typeface="Calibri"/>
                <a:cs typeface="Calibri"/>
              </a:rPr>
              <a:t>{ passive: true }</a:t>
            </a:r>
            <a:r>
              <a:rPr lang="en-US" sz="1200" b="1" dirty="0">
                <a:latin typeface="Calibri"/>
                <a:ea typeface="+mn-lt"/>
                <a:cs typeface="Calibri"/>
              </a:rPr>
              <a:t> </a:t>
            </a:r>
            <a:r>
              <a:rPr lang="en-US" sz="1200" b="1" dirty="0" err="1">
                <a:latin typeface="Calibri"/>
                <a:ea typeface="+mn-lt"/>
                <a:cs typeface="Calibri"/>
              </a:rPr>
              <a:t>javítja</a:t>
            </a:r>
            <a:r>
              <a:rPr lang="en-US" sz="1200" b="1" dirty="0">
                <a:latin typeface="Calibri"/>
                <a:ea typeface="+mn-lt"/>
                <a:cs typeface="Calibri"/>
              </a:rPr>
              <a:t> a </a:t>
            </a:r>
            <a:r>
              <a:rPr lang="en-US" sz="1200" b="1" dirty="0" err="1">
                <a:latin typeface="Calibri"/>
                <a:ea typeface="+mn-lt"/>
                <a:cs typeface="Calibri"/>
              </a:rPr>
              <a:t>teljesítményt</a:t>
            </a:r>
            <a:r>
              <a:rPr lang="en-US" sz="1200" b="1" dirty="0">
                <a:latin typeface="Calibri"/>
                <a:ea typeface="+mn-lt"/>
                <a:cs typeface="Calibr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4750" y="2191635"/>
            <a:ext cx="3150000" cy="149784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</a:rPr>
              <a:t>2. Hero Parallax / Load Animation</a:t>
            </a:r>
            <a:endParaRPr lang="en-US" sz="1300" b="1">
              <a:solidFill>
                <a:srgbClr val="C00000"/>
              </a:solidFill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lang="en-US" sz="1200" b="1" dirty="0" err="1">
                <a:ea typeface="+mn-lt"/>
                <a:cs typeface="+mn-lt"/>
              </a:rPr>
              <a:t>Betöltéskor</a:t>
            </a:r>
            <a:r>
              <a:rPr lang="en-US" sz="1200" b="1" dirty="0">
                <a:ea typeface="+mn-lt"/>
                <a:cs typeface="+mn-lt"/>
              </a:rPr>
              <a:t> 100ms </a:t>
            </a:r>
            <a:r>
              <a:rPr lang="en-US" sz="1200" b="1" dirty="0" err="1">
                <a:ea typeface="+mn-lt"/>
                <a:cs typeface="+mn-lt"/>
              </a:rPr>
              <a:t>után</a:t>
            </a:r>
            <a:r>
              <a:rPr lang="en-US" sz="1200" b="1" dirty="0">
                <a:ea typeface="+mn-lt"/>
                <a:cs typeface="+mn-lt"/>
              </a:rPr>
              <a:t> a hero </a:t>
            </a:r>
            <a:r>
              <a:rPr lang="en-US" sz="1200" b="1" dirty="0" err="1">
                <a:ea typeface="+mn-lt"/>
                <a:cs typeface="+mn-lt"/>
              </a:rPr>
              <a:t>elem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megkapja</a:t>
            </a:r>
            <a:r>
              <a:rPr lang="en-US" sz="1200" b="1" dirty="0">
                <a:ea typeface="+mn-lt"/>
                <a:cs typeface="+mn-lt"/>
              </a:rPr>
              <a:t> a </a:t>
            </a:r>
            <a:r>
              <a:rPr lang="en-US" sz="1200" b="1" dirty="0">
                <a:latin typeface="Calibri"/>
                <a:ea typeface="Calibri"/>
                <a:cs typeface="Calibri"/>
              </a:rPr>
              <a:t>loaded</a:t>
            </a:r>
            <a:r>
              <a:rPr lang="en-US" sz="1200" b="1" dirty="0">
                <a:ea typeface="+mn-lt"/>
                <a:cs typeface="+mn-lt"/>
              </a:rPr>
              <a:t> </a:t>
            </a:r>
            <a:r>
              <a:rPr lang="en-US" sz="1200" b="1" dirty="0" err="1">
                <a:ea typeface="+mn-lt"/>
                <a:cs typeface="+mn-lt"/>
              </a:rPr>
              <a:t>osztályt</a:t>
            </a:r>
            <a:r>
              <a:rPr lang="en-US" sz="1200" b="1" dirty="0">
                <a:ea typeface="+mn-lt"/>
                <a:cs typeface="+mn-lt"/>
              </a:rPr>
              <a:t> (fade-in trigger). </a:t>
            </a:r>
            <a:r>
              <a:rPr lang="en-US" sz="1200" b="1" dirty="0" err="1">
                <a:ea typeface="+mn-lt"/>
                <a:cs typeface="+mn-lt"/>
              </a:rPr>
              <a:t>Görgetéskor</a:t>
            </a:r>
            <a:r>
              <a:rPr lang="en-US" sz="1200" b="1" dirty="0">
                <a:ea typeface="+mn-lt"/>
                <a:cs typeface="+mn-lt"/>
              </a:rPr>
              <a:t> a </a:t>
            </a:r>
            <a:r>
              <a:rPr lang="en-US" sz="1200" b="1" dirty="0" err="1">
                <a:ea typeface="+mn-lt"/>
                <a:cs typeface="+mn-lt"/>
              </a:rPr>
              <a:t>háttérkép</a:t>
            </a:r>
            <a:r>
              <a:rPr lang="en-US" sz="1200" b="1" dirty="0">
                <a:ea typeface="+mn-lt"/>
                <a:cs typeface="+mn-lt"/>
              </a:rPr>
              <a:t> </a:t>
            </a:r>
            <a:r>
              <a:rPr lang="en-US" sz="1200" b="1" dirty="0">
                <a:latin typeface="Calibri"/>
                <a:ea typeface="Calibri"/>
                <a:cs typeface="Calibri"/>
              </a:rPr>
              <a:t>scale(1.05) + </a:t>
            </a:r>
            <a:r>
              <a:rPr lang="en-US" sz="1200" b="1" dirty="0" err="1">
                <a:latin typeface="Calibri"/>
                <a:ea typeface="Calibri"/>
                <a:cs typeface="Calibri"/>
              </a:rPr>
              <a:t>translateY</a:t>
            </a:r>
            <a:r>
              <a:rPr lang="en-US" sz="1200" b="1" dirty="0">
                <a:latin typeface="Calibri"/>
                <a:ea typeface="Calibri"/>
                <a:cs typeface="Calibri"/>
              </a:rPr>
              <a:t>(</a:t>
            </a:r>
            <a:r>
              <a:rPr lang="en-US" sz="1200" b="1" dirty="0" err="1">
                <a:latin typeface="Calibri"/>
                <a:ea typeface="Calibri"/>
                <a:cs typeface="Calibri"/>
              </a:rPr>
              <a:t>scrollY</a:t>
            </a:r>
            <a:r>
              <a:rPr lang="en-US" sz="1200" b="1" dirty="0">
                <a:latin typeface="Calibri"/>
                <a:ea typeface="Calibri"/>
                <a:cs typeface="Calibri"/>
              </a:rPr>
              <a:t> × 0.18px)</a:t>
            </a:r>
            <a:r>
              <a:rPr lang="en-US" sz="1200" b="1" dirty="0">
                <a:ea typeface="+mn-lt"/>
                <a:cs typeface="+mn-lt"/>
              </a:rPr>
              <a:t> </a:t>
            </a:r>
            <a:r>
              <a:rPr lang="en-US" sz="1200" b="1" dirty="0" err="1">
                <a:ea typeface="+mn-lt"/>
                <a:cs typeface="+mn-lt"/>
              </a:rPr>
              <a:t>transzformációval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lassabban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mozog</a:t>
            </a:r>
            <a:r>
              <a:rPr lang="en-US" sz="1200" b="1" dirty="0">
                <a:ea typeface="+mn-lt"/>
                <a:cs typeface="+mn-lt"/>
              </a:rPr>
              <a:t> a </a:t>
            </a:r>
            <a:r>
              <a:rPr lang="en-US" sz="1200" b="1" dirty="0" err="1">
                <a:ea typeface="+mn-lt"/>
                <a:cs typeface="+mn-lt"/>
              </a:rPr>
              <a:t>tartalomhoz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képest</a:t>
            </a:r>
            <a:r>
              <a:rPr lang="en-US" sz="1200" b="1" dirty="0">
                <a:ea typeface="+mn-lt"/>
                <a:cs typeface="+mn-lt"/>
              </a:rPr>
              <a:t> – </a:t>
            </a:r>
            <a:r>
              <a:rPr lang="en-US" sz="1200" b="1" dirty="0" err="1">
                <a:ea typeface="+mn-lt"/>
                <a:cs typeface="+mn-lt"/>
              </a:rPr>
              <a:t>ez</a:t>
            </a:r>
            <a:r>
              <a:rPr lang="en-US" sz="1200" b="1" dirty="0">
                <a:ea typeface="+mn-lt"/>
                <a:cs typeface="+mn-lt"/>
              </a:rPr>
              <a:t> a parallax </a:t>
            </a:r>
            <a:r>
              <a:rPr lang="en-US" sz="1200" b="1" dirty="0" err="1">
                <a:ea typeface="+mn-lt"/>
                <a:cs typeface="+mn-lt"/>
              </a:rPr>
              <a:t>mélységhatás</a:t>
            </a:r>
            <a:r>
              <a:rPr lang="en-US" sz="1200" b="1" dirty="0">
                <a:ea typeface="+mn-lt"/>
                <a:cs typeface="+mn-lt"/>
              </a:rPr>
              <a:t>.</a:t>
            </a:r>
            <a:endParaRPr sz="1200" b="1">
              <a:ea typeface="+mn-lt"/>
              <a:cs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54750" y="3654905"/>
            <a:ext cx="3150000" cy="13131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</a:rPr>
              <a:t>3. Scroll Reveal</a:t>
            </a:r>
            <a:endParaRPr lang="en-US" sz="1200" b="1">
              <a:solidFill>
                <a:srgbClr val="C00000"/>
              </a:solidFill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lang="en-US" sz="1200" b="1" dirty="0" err="1">
                <a:latin typeface="Calibri"/>
                <a:ea typeface="Calibri"/>
                <a:cs typeface="Calibri"/>
              </a:rPr>
              <a:t>IntersectionObserver</a:t>
            </a:r>
            <a:r>
              <a:rPr lang="en-US" sz="1200" b="1" dirty="0">
                <a:ea typeface="+mn-lt"/>
                <a:cs typeface="+mn-lt"/>
              </a:rPr>
              <a:t> </a:t>
            </a:r>
            <a:r>
              <a:rPr lang="en-US" sz="1200" b="1" dirty="0" err="1">
                <a:ea typeface="+mn-lt"/>
                <a:cs typeface="+mn-lt"/>
              </a:rPr>
              <a:t>figyeli</a:t>
            </a:r>
            <a:r>
              <a:rPr lang="en-US" sz="1200" b="1" dirty="0">
                <a:ea typeface="+mn-lt"/>
                <a:cs typeface="+mn-lt"/>
              </a:rPr>
              <a:t> a </a:t>
            </a:r>
            <a:r>
              <a:rPr lang="en-US" sz="1200" b="1" dirty="0">
                <a:latin typeface="Calibri"/>
                <a:ea typeface="Calibri"/>
                <a:cs typeface="Calibri"/>
              </a:rPr>
              <a:t>.reveal</a:t>
            </a:r>
            <a:r>
              <a:rPr lang="en-US" sz="1200" b="1" dirty="0">
                <a:ea typeface="+mn-lt"/>
                <a:cs typeface="+mn-lt"/>
              </a:rPr>
              <a:t> </a:t>
            </a:r>
            <a:r>
              <a:rPr lang="en-US" sz="1200" b="1" dirty="0" err="1">
                <a:ea typeface="+mn-lt"/>
                <a:cs typeface="+mn-lt"/>
              </a:rPr>
              <a:t>elemeket</a:t>
            </a:r>
            <a:r>
              <a:rPr lang="en-US" sz="1200" b="1" dirty="0">
                <a:ea typeface="+mn-lt"/>
                <a:cs typeface="+mn-lt"/>
              </a:rPr>
              <a:t> – ha 12%-ban </a:t>
            </a:r>
            <a:r>
              <a:rPr lang="en-US" sz="1200" b="1" dirty="0" err="1">
                <a:ea typeface="+mn-lt"/>
                <a:cs typeface="+mn-lt"/>
              </a:rPr>
              <a:t>belépnek</a:t>
            </a:r>
            <a:r>
              <a:rPr lang="en-US" sz="1200" b="1" dirty="0">
                <a:ea typeface="+mn-lt"/>
                <a:cs typeface="+mn-lt"/>
              </a:rPr>
              <a:t> a </a:t>
            </a:r>
            <a:r>
              <a:rPr lang="en-US" sz="1200" b="1" dirty="0" err="1">
                <a:ea typeface="+mn-lt"/>
                <a:cs typeface="+mn-lt"/>
              </a:rPr>
              <a:t>képernyőre</a:t>
            </a:r>
            <a:r>
              <a:rPr lang="en-US" sz="1200" b="1" dirty="0">
                <a:ea typeface="+mn-lt"/>
                <a:cs typeface="+mn-lt"/>
              </a:rPr>
              <a:t>, </a:t>
            </a:r>
            <a:r>
              <a:rPr lang="en-US" sz="1200" b="1" dirty="0" err="1">
                <a:ea typeface="+mn-lt"/>
                <a:cs typeface="+mn-lt"/>
              </a:rPr>
              <a:t>megkapják</a:t>
            </a:r>
            <a:r>
              <a:rPr lang="en-US" sz="1200" b="1" dirty="0">
                <a:ea typeface="+mn-lt"/>
                <a:cs typeface="+mn-lt"/>
              </a:rPr>
              <a:t> a </a:t>
            </a:r>
            <a:r>
              <a:rPr lang="en-US" sz="1200" b="1" dirty="0">
                <a:latin typeface="Calibri"/>
                <a:ea typeface="Calibri"/>
                <a:cs typeface="Calibri"/>
              </a:rPr>
              <a:t>visible</a:t>
            </a:r>
            <a:r>
              <a:rPr lang="en-US" sz="1200" b="1" dirty="0">
                <a:ea typeface="+mn-lt"/>
                <a:cs typeface="+mn-lt"/>
              </a:rPr>
              <a:t> </a:t>
            </a:r>
            <a:r>
              <a:rPr lang="en-US" sz="1200" b="1" dirty="0" err="1">
                <a:ea typeface="+mn-lt"/>
                <a:cs typeface="+mn-lt"/>
              </a:rPr>
              <a:t>osztályt</a:t>
            </a:r>
            <a:r>
              <a:rPr lang="en-US" sz="1200" b="1" dirty="0">
                <a:ea typeface="+mn-lt"/>
                <a:cs typeface="+mn-lt"/>
              </a:rPr>
              <a:t> (</a:t>
            </a:r>
            <a:r>
              <a:rPr lang="en-US" sz="1200" b="1" dirty="0" err="1">
                <a:ea typeface="+mn-lt"/>
                <a:cs typeface="+mn-lt"/>
              </a:rPr>
              <a:t>animáció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indul</a:t>
            </a:r>
            <a:r>
              <a:rPr lang="en-US" sz="1200" b="1" dirty="0">
                <a:ea typeface="+mn-lt"/>
                <a:cs typeface="+mn-lt"/>
              </a:rPr>
              <a:t>), </a:t>
            </a:r>
            <a:r>
              <a:rPr lang="en-US" sz="1200" b="1" dirty="0" err="1">
                <a:ea typeface="+mn-lt"/>
                <a:cs typeface="+mn-lt"/>
              </a:rPr>
              <a:t>majd</a:t>
            </a:r>
            <a:r>
              <a:rPr lang="en-US" sz="1200" b="1" dirty="0">
                <a:ea typeface="+mn-lt"/>
                <a:cs typeface="+mn-lt"/>
              </a:rPr>
              <a:t> a </a:t>
            </a:r>
            <a:r>
              <a:rPr lang="en-US" sz="1200" b="1" dirty="0" err="1">
                <a:ea typeface="+mn-lt"/>
                <a:cs typeface="+mn-lt"/>
              </a:rPr>
              <a:t>megfigyelés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leáll</a:t>
            </a:r>
            <a:r>
              <a:rPr lang="en-US" sz="1200" b="1" dirty="0">
                <a:ea typeface="+mn-lt"/>
                <a:cs typeface="+mn-lt"/>
              </a:rPr>
              <a:t>, </a:t>
            </a:r>
            <a:r>
              <a:rPr lang="en-US" sz="1200" b="1" dirty="0" err="1">
                <a:ea typeface="+mn-lt"/>
                <a:cs typeface="+mn-lt"/>
              </a:rPr>
              <a:t>így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az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animáció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csak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egyszer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játszódik</a:t>
            </a:r>
            <a:r>
              <a:rPr lang="en-US" sz="1200" b="1" dirty="0">
                <a:ea typeface="+mn-lt"/>
                <a:cs typeface="+mn-lt"/>
              </a:rPr>
              <a:t> le.</a:t>
            </a:r>
          </a:p>
        </p:txBody>
      </p:sp>
    </p:spTree>
    <p:extLst>
      <p:ext uri="{BB962C8B-B14F-4D97-AF65-F5344CB8AC3E}">
        <p14:creationId xmlns:p14="http://schemas.microsoft.com/office/powerpoint/2010/main" val="1920440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0" cy="514350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0" y="1371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Köszönjük a figyelmet!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0" y="22860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Debreczeni Roland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Kuba Benedek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Ujj Zalán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3749040"/>
            <a:ext cx="4114800" cy="45720"/>
          </a:xfrm>
          <a:prstGeom prst="rect">
            <a:avLst/>
          </a:prstGeom>
          <a:solidFill>
            <a:srgbClr val="FF8000"/>
          </a:solidFill>
          <a:ln w="12700">
            <a:solidFill>
              <a:srgbClr val="FF8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Alapok  |  2025/2026</a:t>
            </a:r>
            <a:endParaRPr lang="en-US" sz="1100" dirty="0"/>
          </a:p>
        </p:txBody>
      </p:sp>
      <p:grpSp>
        <p:nvGrpSpPr>
          <p:cNvPr id="40" name="Csoportba foglalás 39">
            <a:extLst>
              <a:ext uri="{FF2B5EF4-FFF2-40B4-BE49-F238E27FC236}">
                <a16:creationId xmlns:a16="http://schemas.microsoft.com/office/drawing/2014/main" id="{DFF82539-0919-4698-B350-4279F5E0A388}"/>
              </a:ext>
            </a:extLst>
          </p:cNvPr>
          <p:cNvGrpSpPr/>
          <p:nvPr/>
        </p:nvGrpSpPr>
        <p:grpSpPr>
          <a:xfrm>
            <a:off x="165100" y="139700"/>
            <a:ext cx="4114800" cy="4876800"/>
            <a:chOff x="0" y="133350"/>
            <a:chExt cx="4114800" cy="4876800"/>
          </a:xfrm>
          <a:blipFill dpi="0" rotWithShape="1">
            <a:blip r:embed="rId3">
              <a:alphaModFix amt="70000"/>
            </a:blip>
            <a:srcRect/>
            <a:tile tx="-1193800" ty="-127000" sx="60000" sy="60000" flip="none" algn="ctr"/>
          </a:blipFill>
        </p:grpSpPr>
        <p:sp>
          <p:nvSpPr>
            <p:cNvPr id="37" name="Téglalap 36">
              <a:extLst>
                <a:ext uri="{FF2B5EF4-FFF2-40B4-BE49-F238E27FC236}">
                  <a16:creationId xmlns:a16="http://schemas.microsoft.com/office/drawing/2014/main" id="{32A3178E-0541-43E9-AFBA-C2A0051792FB}"/>
                </a:ext>
              </a:extLst>
            </p:cNvPr>
            <p:cNvSpPr/>
            <p:nvPr/>
          </p:nvSpPr>
          <p:spPr>
            <a:xfrm>
              <a:off x="0" y="133350"/>
              <a:ext cx="1257300" cy="4876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38" name="Téglalap 37">
              <a:extLst>
                <a:ext uri="{FF2B5EF4-FFF2-40B4-BE49-F238E27FC236}">
                  <a16:creationId xmlns:a16="http://schemas.microsoft.com/office/drawing/2014/main" id="{BFE5DAC9-7931-4517-BF9B-7E055F3DD921}"/>
                </a:ext>
              </a:extLst>
            </p:cNvPr>
            <p:cNvSpPr/>
            <p:nvPr/>
          </p:nvSpPr>
          <p:spPr>
            <a:xfrm>
              <a:off x="1428750" y="133350"/>
              <a:ext cx="1257300" cy="4876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" name="Téglalap 38">
              <a:extLst>
                <a:ext uri="{FF2B5EF4-FFF2-40B4-BE49-F238E27FC236}">
                  <a16:creationId xmlns:a16="http://schemas.microsoft.com/office/drawing/2014/main" id="{3DEE58C7-E07C-4899-928C-B40E8E0C805B}"/>
                </a:ext>
              </a:extLst>
            </p:cNvPr>
            <p:cNvSpPr/>
            <p:nvPr/>
          </p:nvSpPr>
          <p:spPr>
            <a:xfrm>
              <a:off x="2857500" y="133350"/>
              <a:ext cx="1257300" cy="4876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292</Words>
  <Application>Microsoft Office PowerPoint</Application>
  <PresentationFormat>On-screen Show (16:9)</PresentationFormat>
  <Paragraphs>96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 1 – Dinamikus weboldal projekt</dc:title>
  <dc:subject>PptxGenJS Presentation</dc:subject>
  <dc:creator>PptxGenJS</dc:creator>
  <cp:lastModifiedBy>D242TAN-12</cp:lastModifiedBy>
  <cp:revision>97</cp:revision>
  <dcterms:created xsi:type="dcterms:W3CDTF">2026-04-21T07:17:03Z</dcterms:created>
  <dcterms:modified xsi:type="dcterms:W3CDTF">2026-04-27T16:46:18Z</dcterms:modified>
</cp:coreProperties>
</file>